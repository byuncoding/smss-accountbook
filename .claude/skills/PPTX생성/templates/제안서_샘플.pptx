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62FE"/>
                </a:solidFill>
                <a:latin typeface="맑은 고딕"/>
              </a:rPr>
              <a:t>㈜ 와트  |  WATT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[제안 주제]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[서브 주제]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</a:rPr>
              <a:t>[한 줄 설명]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62FE"/>
                </a:solidFill>
                <a:latin typeface="맑은 고딕"/>
              </a:rPr>
              <a:t>[고객사] 제출용  |  [응모분야]  |  YYYY.MM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616"/>
                </a:solidFill>
                <a:latin typeface="맑은 고딕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맑은 고딕"/>
              </a:rPr>
              <a:t>제안서 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544068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777240" cy="10972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F62FE"/>
                </a:solidFill>
                <a:latin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82880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>WHO WE 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p.03  회사 개요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p.04  Track Record · 성장 로드맵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44068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777240" cy="10972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F62FE"/>
                </a:solidFill>
                <a:latin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82880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>WHY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19456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p.05  고객 통증 포인트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80360"/>
            <a:ext cx="544068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880360"/>
            <a:ext cx="777240" cy="10972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880360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F62FE"/>
                </a:solidFill>
                <a:latin typeface="맑은 고딕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01752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>WHAT WE OFFER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38328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p.06  핵심 솔루션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p.07  기술 검증 데이터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880360"/>
            <a:ext cx="544068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880360"/>
            <a:ext cx="777240" cy="10972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880360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F62FE"/>
                </a:solidFill>
                <a:latin typeface="맑은 고딕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01752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>FIT FOR RFP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38328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p.08  적합 ①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p.09  적합 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069080"/>
            <a:ext cx="544068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069080"/>
            <a:ext cx="777240" cy="10972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69080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F62FE"/>
                </a:solidFill>
                <a:latin typeface="맑은 고딕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20624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>WHY US · 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457200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p.10  통합 가치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p.11  정량 효과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69080"/>
            <a:ext cx="544068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069080"/>
            <a:ext cx="777240" cy="10972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069080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F62FE"/>
                </a:solidFill>
                <a:latin typeface="맑은 고딕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20624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>RELIABILITY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57200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p.12  기술 차별점 + 인증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257800"/>
            <a:ext cx="544068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257800"/>
            <a:ext cx="777240" cy="10972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257800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F62FE"/>
                </a:solidFill>
                <a:latin typeface="맑은 고딕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539496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>ENGAGEMENT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576072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p.13  협업 모델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01  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회사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맑은 고딕"/>
              </a:rPr>
              <a:t>Who We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61616"/>
                </a:solidFill>
                <a:latin typeface="맑은 고딕"/>
              </a:rPr>
              <a:t>“한 줄 가치 제안”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34640"/>
            <a:ext cx="3566160" cy="34290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기업 기본 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20440"/>
            <a:ext cx="31089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회사명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설립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임직원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본사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홈페이지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834640"/>
            <a:ext cx="3566160" cy="34290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83464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대표 프로필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20440"/>
            <a:ext cx="31089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前 경력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현장 경험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전문성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역할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834640"/>
            <a:ext cx="3566160" cy="34290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83464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기술 중심 조직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520440"/>
            <a:ext cx="31089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개발인력 비중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전문 영역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핵심 노하우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01  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Track Record + 성장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4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548640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5486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286000"/>
            <a:ext cx="1874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616"/>
                </a:solidFill>
                <a:latin typeface="맑은 고딕"/>
              </a:rPr>
              <a:t>고객사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4320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맑은 고딕"/>
              </a:rPr>
              <a:t>주요 성과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10312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103120"/>
            <a:ext cx="548640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103120"/>
            <a:ext cx="5486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286000"/>
            <a:ext cx="1874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616"/>
                </a:solidFill>
                <a:latin typeface="맑은 고딕"/>
              </a:rPr>
              <a:t>고객사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74320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맑은 고딕"/>
              </a:rPr>
              <a:t>솔루션 납품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892040"/>
            <a:ext cx="10881360" cy="14630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83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>성장 로드맵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806440"/>
            <a:ext cx="9966960" cy="2540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5691124"/>
            <a:ext cx="256032" cy="256032"/>
          </a:xfrm>
          <a:prstGeom prst="ellipse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303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1616"/>
                </a:solidFill>
                <a:latin typeface="맑은 고딕"/>
              </a:rPr>
              <a:t>2020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598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61616"/>
                </a:solidFill>
                <a:latin typeface="맑은 고딕"/>
              </a:rPr>
              <a:t>창업</a:t>
            </a:r>
          </a:p>
        </p:txBody>
      </p:sp>
      <p:sp>
        <p:nvSpPr>
          <p:cNvPr id="26" name="Oval 25"/>
          <p:cNvSpPr/>
          <p:nvPr/>
        </p:nvSpPr>
        <p:spPr>
          <a:xfrm>
            <a:off x="5952744" y="5691124"/>
            <a:ext cx="256032" cy="256032"/>
          </a:xfrm>
          <a:prstGeom prst="ellipse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5303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1616"/>
                </a:solidFill>
                <a:latin typeface="맑은 고딕"/>
              </a:rPr>
              <a:t>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598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61616"/>
                </a:solidFill>
                <a:latin typeface="맑은 고딕"/>
              </a:rPr>
              <a:t>성장</a:t>
            </a:r>
          </a:p>
        </p:txBody>
      </p:sp>
      <p:sp>
        <p:nvSpPr>
          <p:cNvPr id="29" name="Oval 28"/>
          <p:cNvSpPr/>
          <p:nvPr/>
        </p:nvSpPr>
        <p:spPr>
          <a:xfrm>
            <a:off x="10936224" y="5691124"/>
            <a:ext cx="256032" cy="256032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5303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1616"/>
                </a:solidFill>
                <a:latin typeface="맑은 고딕"/>
              </a:rPr>
              <a:t>2029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598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61616"/>
                </a:solidFill>
                <a:latin typeface="맑은 고딕"/>
              </a:rPr>
              <a:t>IPO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02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고객 통증 포인트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맑은 고딕"/>
              </a:rPr>
              <a:t>공통 문제 3가지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5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01  문제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원인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영향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현 한계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02  문제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원인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영향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현 한계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03  문제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원인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영향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현 한계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03  WHAT WE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핵심 솔루션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맑은 고딕"/>
              </a:rPr>
              <a:t>HW + SW +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6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스펙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스펙 2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스펙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제품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제품 2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제품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AI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엔진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엔진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03  WHAT WE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기술 검증 데이터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7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48640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548640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검증 지표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502920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수치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수치 2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수치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20240"/>
            <a:ext cx="544068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20240"/>
            <a:ext cx="544068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검증 지표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498348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수치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수치 2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수치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04  FIT FOR RFP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적합 ① [분야명]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8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48640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548640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주요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502920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기능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기능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20240"/>
            <a:ext cx="544068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20240"/>
            <a:ext cx="544068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도입 효과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498348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효과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효과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04  FIT FOR RFP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적합 ② [분야명]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9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48640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548640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주요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502920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기능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기능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20240"/>
            <a:ext cx="544068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20240"/>
            <a:ext cx="544068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도입 효과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498348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효과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효과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05  WHY US ·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통합 가치 — Why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10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가치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포인트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가치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포인트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가치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포인트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05  WHY US ·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도입 효과 — AS-IS vs TO-BE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11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356616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678680"/>
            <a:ext cx="3566160" cy="76200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>
                <a:solidFill>
                  <a:srgbClr val="24A148"/>
                </a:solidFill>
                <a:latin typeface="맑은 고딕"/>
              </a:rPr>
              <a:t>15×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1616"/>
                </a:solidFill>
                <a:latin typeface="맑은 고딕"/>
              </a:rPr>
              <a:t>생산성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25252"/>
                </a:solidFill>
                <a:latin typeface="맑은 고딕"/>
              </a:rPr>
              <a:t>기존 → 개선 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920240"/>
            <a:ext cx="356616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467868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14884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>
                <a:solidFill>
                  <a:srgbClr val="0F62FE"/>
                </a:solidFill>
                <a:latin typeface="맑은 고딕"/>
              </a:rPr>
              <a:t>9×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3375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1616"/>
                </a:solidFill>
                <a:latin typeface="맑은 고딕"/>
              </a:rPr>
              <a:t>디지털화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70332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25252"/>
                </a:solidFill>
                <a:latin typeface="맑은 고딕"/>
              </a:rPr>
              <a:t>기존 → 개선 설명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920240"/>
            <a:ext cx="356616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4678680"/>
            <a:ext cx="3566160" cy="76200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14884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>
                <a:solidFill>
                  <a:srgbClr val="DA1E28"/>
                </a:solidFill>
                <a:latin typeface="맑은 고딕"/>
              </a:rPr>
              <a:t>-100%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3375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1616"/>
                </a:solidFill>
                <a:latin typeface="맑은 고딕"/>
              </a:rPr>
              <a:t>누락률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70332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25252"/>
                </a:solidFill>
                <a:latin typeface="맑은 고딕"/>
              </a:rPr>
              <a:t>기존 → 개선 설명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83480"/>
            <a:ext cx="10881360" cy="141732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074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>AS-IS → TO-BE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40680"/>
            <a:ext cx="2628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항목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1860" y="5440680"/>
            <a:ext cx="2628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AS-IS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5440680"/>
            <a:ext cx="2628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TO-BE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9660" y="5440680"/>
            <a:ext cx="2628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개선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733288"/>
            <a:ext cx="2628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61616"/>
                </a:solidFill>
                <a:latin typeface="맑은 고딕"/>
              </a:rPr>
              <a:t>지표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1860" y="5733288"/>
            <a:ext cx="2628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61616"/>
                </a:solidFill>
                <a:latin typeface="맑은 고딕"/>
              </a:rPr>
              <a:t>기존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5733288"/>
            <a:ext cx="2628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61616"/>
                </a:solidFill>
                <a:latin typeface="맑은 고딕"/>
              </a:rPr>
              <a:t>개선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9660" y="5733288"/>
            <a:ext cx="2628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61616"/>
                </a:solidFill>
                <a:latin typeface="맑은 고딕"/>
              </a:rPr>
              <a:t>수치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989320"/>
            <a:ext cx="2628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61616"/>
                </a:solidFill>
                <a:latin typeface="맑은 고딕"/>
              </a:rPr>
              <a:t>지표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1860" y="5989320"/>
            <a:ext cx="2628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61616"/>
                </a:solidFill>
                <a:latin typeface="맑은 고딕"/>
              </a:rPr>
              <a:t>기존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5989320"/>
            <a:ext cx="2628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61616"/>
                </a:solidFill>
                <a:latin typeface="맑은 고딕"/>
              </a:rPr>
              <a:t>개선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9660" y="5989320"/>
            <a:ext cx="2628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61616"/>
                </a:solidFill>
                <a:latin typeface="맑은 고딕"/>
              </a:rPr>
              <a:t>수치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06 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기술 차별점 + 인증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12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차별점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근거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근거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차별점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근거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근거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인증 이력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TIPS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ISO 9001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특허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07 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협업 모델 제안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13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3535680" cy="429768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3535680" cy="5029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3535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307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616"/>
                </a:solidFill>
                <a:latin typeface="맑은 고딕"/>
              </a:rPr>
              <a:t>POC (1~2개월)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91840"/>
            <a:ext cx="30784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세부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세부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7200" y="1965960"/>
            <a:ext cx="3535680" cy="429768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7200" y="1965960"/>
            <a:ext cx="3535680" cy="50292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7200" y="1965960"/>
            <a:ext cx="3535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5800" y="2697480"/>
            <a:ext cx="307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616"/>
                </a:solidFill>
                <a:latin typeface="맑은 고딕"/>
              </a:rPr>
              <a:t>파일럿 (3~6개월)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800" y="3291840"/>
            <a:ext cx="30784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세부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세부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94320" y="1965960"/>
            <a:ext cx="3535680" cy="429768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94320" y="1965960"/>
            <a:ext cx="3535680" cy="5029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4320" y="1965960"/>
            <a:ext cx="3535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2920" y="2697480"/>
            <a:ext cx="307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616"/>
                </a:solidFill>
                <a:latin typeface="맑은 고딕"/>
              </a:rPr>
              <a:t>롤아웃 (6개월~)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2920" y="3291840"/>
            <a:ext cx="30784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세부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세부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62FE"/>
                </a:solidFill>
                <a:latin typeface="맑은 고딕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함께 산업 현장의 미래를 만들어갑니다.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회사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9319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㈜와트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주소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3891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경기도 성남 판교이노베이션랩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영업 문의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9319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wgkim@wattsolution.co.kr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홈페이지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3891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www.wattsolution.co.kr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